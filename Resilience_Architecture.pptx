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Resilience, Availability &amp; Failure Handling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Resilient Architecture Built for Continuity, Fault Tolerance &amp; Operational Excellence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783080" cy="1463040"/>
          </a:xfrm>
          <a:prstGeom prst="rect">
            <a:avLst/>
          </a:prstGeom>
          <a:solidFill>
            <a:srgbClr val="1E3560"/>
          </a:solidFill>
          <a:ln w="6350">
            <a:solidFill>
              <a:srgbClr val="2E5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⛨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Multi-AZ High Availability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94360" y="2587752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across zones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377440" y="1691640"/>
            <a:ext cx="1783080" cy="1463040"/>
          </a:xfrm>
          <a:prstGeom prst="rect">
            <a:avLst/>
          </a:prstGeom>
          <a:solidFill>
            <a:srgbClr val="1E3560"/>
          </a:solidFill>
          <a:ln w="6350">
            <a:solidFill>
              <a:srgbClr val="2E5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377440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37744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468880" y="2587752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contained to one zone or component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51960" y="1691640"/>
            <a:ext cx="1783080" cy="1463040"/>
          </a:xfrm>
          <a:prstGeom prst="rect">
            <a:avLst/>
          </a:prstGeom>
          <a:solidFill>
            <a:srgbClr val="1E3560"/>
          </a:solidFill>
          <a:ln w="6350">
            <a:solidFill>
              <a:srgbClr val="2E5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251960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25196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by Design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43400" y="2587752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patterns for failure handling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1691640"/>
            <a:ext cx="1783080" cy="1463040"/>
          </a:xfrm>
          <a:prstGeom prst="rect">
            <a:avLst/>
          </a:prstGeom>
          <a:solidFill>
            <a:srgbClr val="1E3560"/>
          </a:solidFill>
          <a:ln w="6350">
            <a:solidFill>
              <a:srgbClr val="2E5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12648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Continuity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17920" y="2587752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/ Read Stores for read continuity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01000" y="1691640"/>
            <a:ext cx="1783080" cy="1463040"/>
          </a:xfrm>
          <a:prstGeom prst="rect">
            <a:avLst/>
          </a:prstGeom>
          <a:solidFill>
            <a:srgbClr val="1E3560"/>
          </a:solidFill>
          <a:ln w="6350">
            <a:solidFill>
              <a:srgbClr val="2E5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01000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00100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092440" y="2587752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Non-critical features degrade, core stays up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875520" y="1691640"/>
            <a:ext cx="1783080" cy="1463040"/>
          </a:xfrm>
          <a:prstGeom prst="rect">
            <a:avLst/>
          </a:prstGeom>
          <a:solidFill>
            <a:srgbClr val="1E3560"/>
          </a:solidFill>
          <a:ln w="6350">
            <a:solidFill>
              <a:srgbClr val="2E509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875520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875520" y="2194560"/>
            <a:ext cx="17830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&amp; Traceable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966960" y="2587752"/>
            <a:ext cx="16002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visibility, correlation &amp; alerts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63093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8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Architecture  •  Zero Single Points of Failure  •  Continuous Availability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D1F4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Architecture Across Two Availability Zones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" y="548640"/>
            <a:ext cx="1645920" cy="384048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" y="548640"/>
            <a:ext cx="1645920" cy="256032"/>
          </a:xfrm>
          <a:prstGeom prst="rect">
            <a:avLst/>
          </a:prstGeom>
          <a:solidFill>
            <a:srgbClr val="1E4D8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548640"/>
            <a:ext cx="1645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&amp; External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896112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896112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 Clients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2880" y="1481328"/>
            <a:ext cx="14630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481328"/>
            <a:ext cx="1463040" cy="256032"/>
          </a:xfrm>
          <a:prstGeom prst="rect">
            <a:avLst/>
          </a:prstGeom>
          <a:solidFill>
            <a:srgbClr val="2563E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481328"/>
            <a:ext cx="1463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Traffic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28600" y="1773936"/>
            <a:ext cx="1371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/ Anycast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Health-based routing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&amp; geo-aware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protection</a:t>
            </a:r>
            <a:endParaRPr lang="en-US" sz="700" dirty="0"/>
          </a:p>
          <a:p>
            <a:pPr marL="342900" indent="-342900">
              <a:buSzPct val="100000"/>
              <a:buChar char="•"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82880" y="2944368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2880" y="294436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APIs / Partners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82880" y="3538728"/>
            <a:ext cx="14630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2880" y="3538728"/>
            <a:ext cx="14630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/ Systems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74520" y="530352"/>
            <a:ext cx="7406640" cy="3886200"/>
          </a:xfrm>
          <a:prstGeom prst="rect">
            <a:avLst/>
          </a:prstGeom>
          <a:solidFill>
            <a:srgbClr val="EEF4FF"/>
          </a:solidFill>
          <a:ln w="19050">
            <a:solidFill>
              <a:srgbClr val="1E4D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74520" y="530352"/>
            <a:ext cx="7406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Across Two Availability Zones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960120"/>
            <a:ext cx="14630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  <a:headEnd type="arrow"/>
            <a:tailEnd type="arrow"/>
          </a:ln>
        </p:spPr>
      </p:sp>
      <p:sp>
        <p:nvSpPr>
          <p:cNvPr id="20" name="Text 18"/>
          <p:cNvSpPr/>
          <p:nvPr/>
        </p:nvSpPr>
        <p:spPr>
          <a:xfrm>
            <a:off x="4480560" y="804672"/>
            <a:ext cx="2103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6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Sync &amp; Health Monitoring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1965960" y="868680"/>
            <a:ext cx="3383280" cy="3474720"/>
          </a:xfrm>
          <a:prstGeom prst="rect">
            <a:avLst/>
          </a:prstGeom>
          <a:solidFill>
            <a:srgbClr val="E8F5E9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65960" y="868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 (Primary) ✓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57400" y="1207008"/>
            <a:ext cx="7772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57400" y="1207008"/>
            <a:ext cx="777240" cy="228600"/>
          </a:xfrm>
          <a:prstGeom prst="rect">
            <a:avLst/>
          </a:prstGeom>
          <a:solidFill>
            <a:srgbClr val="1E4D8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1207008"/>
            <a:ext cx="777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75688" y="1463040"/>
            <a:ext cx="7315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65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65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AuthN/AuthZ</a:t>
            </a:r>
            <a:endParaRPr lang="en-US" sz="65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</a:t>
            </a:r>
            <a:endParaRPr lang="en-US" sz="65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907792" y="1207008"/>
            <a:ext cx="10058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907792" y="1207008"/>
            <a:ext cx="1005840" cy="228600"/>
          </a:xfrm>
          <a:prstGeom prst="rect">
            <a:avLst/>
          </a:prstGeom>
          <a:solidFill>
            <a:srgbClr val="1E4D8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07792" y="1207008"/>
            <a:ext cx="10058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Integration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0" y="1463040"/>
            <a:ext cx="960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/ Functions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926080" y="1673352"/>
            <a:ext cx="9601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 0→n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2926080" y="1920240"/>
            <a:ext cx="960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Processing (Queues/Topics)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926080" y="2212848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queues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messaging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2926080" y="2651760"/>
            <a:ext cx="960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 (Retry &amp; DLQ)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986784" y="1207008"/>
            <a:ext cx="10058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986784" y="1207008"/>
            <a:ext cx="1005840" cy="228600"/>
          </a:xfrm>
          <a:prstGeom prst="rect">
            <a:avLst/>
          </a:prstGeom>
          <a:solidFill>
            <a:srgbClr val="2563E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86784" y="1207008"/>
            <a:ext cx="10058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(HA Cluster)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05072" y="1463040"/>
            <a:ext cx="9601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across AZs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Auto-failover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queues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messaging</a:t>
            </a:r>
            <a:endParaRPr lang="en-US" sz="600" dirty="0"/>
          </a:p>
        </p:txBody>
      </p:sp>
      <p:sp>
        <p:nvSpPr>
          <p:cNvPr id="39" name="Shape 37"/>
          <p:cNvSpPr/>
          <p:nvPr/>
        </p:nvSpPr>
        <p:spPr>
          <a:xfrm>
            <a:off x="2057400" y="3383280"/>
            <a:ext cx="32918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057400" y="3383280"/>
            <a:ext cx="3291840" cy="228600"/>
          </a:xfrm>
          <a:prstGeom prst="rect">
            <a:avLst/>
          </a:prstGeom>
          <a:solidFill>
            <a:srgbClr val="16A34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57400" y="3383280"/>
            <a:ext cx="32918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/ Read Store – Zone A (Read Continuity)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103120" y="3639312"/>
            <a:ext cx="3200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replication</a:t>
            </a:r>
            <a:endParaRPr lang="en-US" sz="65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Read-optimized access</a:t>
            </a:r>
            <a:endParaRPr lang="en-US" sz="65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reads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440680" y="868680"/>
            <a:ext cx="3383280" cy="3474720"/>
          </a:xfrm>
          <a:prstGeom prst="rect">
            <a:avLst/>
          </a:prstGeom>
          <a:solidFill>
            <a:srgbClr val="FFF3E0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40680" y="868680"/>
            <a:ext cx="338328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B (Secondary)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532120" y="1207008"/>
            <a:ext cx="7772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532120" y="1207008"/>
            <a:ext cx="777240" cy="228600"/>
          </a:xfrm>
          <a:prstGeom prst="rect">
            <a:avLst/>
          </a:prstGeom>
          <a:solidFill>
            <a:srgbClr val="1E4D8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1207008"/>
            <a:ext cx="7772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50408" y="1463040"/>
            <a:ext cx="73152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65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65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AuthN/AuthZ</a:t>
            </a:r>
            <a:endParaRPr lang="en-US" sz="65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</a:t>
            </a:r>
            <a:endParaRPr lang="en-US" sz="65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6382512" y="1207008"/>
            <a:ext cx="10058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382512" y="1207008"/>
            <a:ext cx="1005840" cy="228600"/>
          </a:xfrm>
          <a:prstGeom prst="rect">
            <a:avLst/>
          </a:prstGeom>
          <a:solidFill>
            <a:srgbClr val="1E4D8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1207008"/>
            <a:ext cx="10058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&amp; Integration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400800" y="1463040"/>
            <a:ext cx="9601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/ Functions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400800" y="1673352"/>
            <a:ext cx="96012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 0→n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6400800" y="1920240"/>
            <a:ext cx="960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Processing (Queues/Topics)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6400800" y="2212848"/>
            <a:ext cx="96012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queues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messaging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400800" y="2651760"/>
            <a:ext cx="960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D1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Jobs (Retry &amp; DLQ)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7461504" y="1207008"/>
            <a:ext cx="100584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461504" y="1207008"/>
            <a:ext cx="1005840" cy="228600"/>
          </a:xfrm>
          <a:prstGeom prst="rect">
            <a:avLst/>
          </a:prstGeom>
          <a:solidFill>
            <a:srgbClr val="2563E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461504" y="1207008"/>
            <a:ext cx="100584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(HA Cluster)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479792" y="1463040"/>
            <a:ext cx="96012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across AZs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Auto-failover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queues</a:t>
            </a:r>
            <a:endParaRPr lang="en-US" sz="600" dirty="0"/>
          </a:p>
          <a:p>
            <a:pPr marL="342900" indent="-342900">
              <a:buSzPct val="100000"/>
              <a:buChar char="•"/>
            </a:pPr>
            <a:r>
              <a:rPr lang="en-US" sz="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messaging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5440680" y="3383280"/>
            <a:ext cx="3383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440680" y="3383280"/>
            <a:ext cx="3383280" cy="228600"/>
          </a:xfrm>
          <a:prstGeom prst="rect">
            <a:avLst/>
          </a:prstGeom>
          <a:solidFill>
            <a:srgbClr val="16A34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40680" y="3383280"/>
            <a:ext cx="338328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 / Read Store – Zone B (Read Continuity)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486400" y="3639312"/>
            <a:ext cx="329184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replication</a:t>
            </a:r>
            <a:endParaRPr lang="en-US" sz="65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Read-optimized access</a:t>
            </a:r>
            <a:endParaRPr lang="en-US" sz="650" dirty="0"/>
          </a:p>
          <a:p>
            <a:pPr marL="342900" indent="-342900">
              <a:buSzPct val="100000"/>
              <a:buChar char="•"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Scale-out reads</a:t>
            </a:r>
            <a:endParaRPr lang="en-US" sz="650" dirty="0"/>
          </a:p>
        </p:txBody>
      </p:sp>
      <p:sp>
        <p:nvSpPr>
          <p:cNvPr id="65" name="Shape 63"/>
          <p:cNvSpPr/>
          <p:nvPr/>
        </p:nvSpPr>
        <p:spPr>
          <a:xfrm>
            <a:off x="4160520" y="3383280"/>
            <a:ext cx="2286000" cy="868680"/>
          </a:xfrm>
          <a:prstGeom prst="rect">
            <a:avLst/>
          </a:prstGeom>
          <a:solidFill>
            <a:srgbClr val="FFF1F2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160520" y="3383280"/>
            <a:ext cx="2286000" cy="228600"/>
          </a:xfrm>
          <a:prstGeom prst="rect">
            <a:avLst/>
          </a:prstGeom>
          <a:solidFill>
            <a:srgbClr val="DC262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6052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Store (Transactional)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206240" y="3639312"/>
            <a:ext cx="219456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replication across zones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3611880" y="3813048"/>
            <a:ext cx="56692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  <a:headEnd type="arrow"/>
            <a:tailEnd type="arrow"/>
          </a:ln>
        </p:spPr>
      </p:sp>
      <p:sp>
        <p:nvSpPr>
          <p:cNvPr id="70" name="Shape 68"/>
          <p:cNvSpPr/>
          <p:nvPr/>
        </p:nvSpPr>
        <p:spPr>
          <a:xfrm>
            <a:off x="6446520" y="3813048"/>
            <a:ext cx="566928" cy="0"/>
          </a:xfrm>
          <a:prstGeom prst="line">
            <a:avLst/>
          </a:prstGeom>
          <a:noFill/>
          <a:ln w="12700">
            <a:solidFill>
              <a:srgbClr val="0891B2"/>
            </a:solidFill>
            <a:prstDash val="dash"/>
            <a:headEnd type="arrow"/>
            <a:tailEnd type="arrow"/>
          </a:ln>
        </p:spPr>
      </p:sp>
      <p:sp>
        <p:nvSpPr>
          <p:cNvPr id="71" name="Shape 69"/>
          <p:cNvSpPr/>
          <p:nvPr/>
        </p:nvSpPr>
        <p:spPr>
          <a:xfrm>
            <a:off x="9418320" y="530352"/>
            <a:ext cx="2606040" cy="388620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418320" y="530352"/>
            <a:ext cx="2606040" cy="256032"/>
          </a:xfrm>
          <a:prstGeom prst="rect">
            <a:avLst/>
          </a:prstGeom>
          <a:solidFill>
            <a:srgbClr val="EA580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18320" y="530352"/>
            <a:ext cx="2606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Systems (Downstream)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555480" y="868680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9555480" y="868680"/>
            <a:ext cx="2331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555480" y="1463040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7" name="Text 75"/>
          <p:cNvSpPr/>
          <p:nvPr/>
        </p:nvSpPr>
        <p:spPr>
          <a:xfrm>
            <a:off x="955548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9555480" y="2057400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9555480" y="2057400"/>
            <a:ext cx="2331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9555480" y="2651760"/>
            <a:ext cx="23317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FED7A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955548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 Creek - Billing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9418320" y="3310128"/>
            <a:ext cx="2606040" cy="109728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9418320" y="3310128"/>
            <a:ext cx="2606040" cy="256032"/>
          </a:xfrm>
          <a:prstGeom prst="rect">
            <a:avLst/>
          </a:prstGeom>
          <a:solidFill>
            <a:srgbClr val="16A34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418320" y="3310128"/>
            <a:ext cx="2606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Systems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9555480" y="3639312"/>
            <a:ext cx="2331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6" name="Text 84"/>
          <p:cNvSpPr/>
          <p:nvPr/>
        </p:nvSpPr>
        <p:spPr>
          <a:xfrm>
            <a:off x="9555480" y="3639312"/>
            <a:ext cx="23317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IPX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555480" y="4142232"/>
            <a:ext cx="23317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8" name="Text 86"/>
          <p:cNvSpPr/>
          <p:nvPr/>
        </p:nvSpPr>
        <p:spPr>
          <a:xfrm>
            <a:off x="9555480" y="4142232"/>
            <a:ext cx="23317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Builder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50976" y="1097280"/>
            <a:ext cx="5486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arrow"/>
          </a:ln>
        </p:spPr>
      </p:sp>
      <p:sp>
        <p:nvSpPr>
          <p:cNvPr id="90" name="Shape 88"/>
          <p:cNvSpPr/>
          <p:nvPr/>
        </p:nvSpPr>
        <p:spPr>
          <a:xfrm>
            <a:off x="950976" y="2944368"/>
            <a:ext cx="548640" cy="50292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arrow"/>
          </a:ln>
        </p:spPr>
      </p:sp>
      <p:sp>
        <p:nvSpPr>
          <p:cNvPr id="91" name="Shape 89"/>
          <p:cNvSpPr/>
          <p:nvPr/>
        </p:nvSpPr>
        <p:spPr>
          <a:xfrm>
            <a:off x="1645920" y="1874520"/>
            <a:ext cx="36576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arrow"/>
          </a:ln>
        </p:spPr>
      </p:sp>
      <p:sp>
        <p:nvSpPr>
          <p:cNvPr id="92" name="Shape 90"/>
          <p:cNvSpPr/>
          <p:nvPr/>
        </p:nvSpPr>
        <p:spPr>
          <a:xfrm>
            <a:off x="1874520" y="4526280"/>
            <a:ext cx="7406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011680" y="4663440"/>
            <a:ext cx="3200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tailEnd type="arrow"/>
          </a:ln>
        </p:spPr>
      </p:sp>
      <p:sp>
        <p:nvSpPr>
          <p:cNvPr id="94" name="Text 92"/>
          <p:cNvSpPr/>
          <p:nvPr/>
        </p:nvSpPr>
        <p:spPr>
          <a:xfrm>
            <a:off x="2377440" y="4599432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Request Path</a:t>
            </a:r>
            <a:endParaRPr lang="en-US" sz="650" dirty="0"/>
          </a:p>
        </p:txBody>
      </p:sp>
      <p:sp>
        <p:nvSpPr>
          <p:cNvPr id="95" name="Shape 93"/>
          <p:cNvSpPr/>
          <p:nvPr/>
        </p:nvSpPr>
        <p:spPr>
          <a:xfrm>
            <a:off x="3456432" y="4663440"/>
            <a:ext cx="32004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dash"/>
            <a:tailEnd type="arrow"/>
          </a:ln>
        </p:spPr>
      </p:sp>
      <p:sp>
        <p:nvSpPr>
          <p:cNvPr id="96" name="Text 94"/>
          <p:cNvSpPr/>
          <p:nvPr/>
        </p:nvSpPr>
        <p:spPr>
          <a:xfrm>
            <a:off x="3822192" y="4599432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/ Replication</a:t>
            </a:r>
            <a:endParaRPr lang="en-US" sz="650" dirty="0"/>
          </a:p>
        </p:txBody>
      </p:sp>
      <p:sp>
        <p:nvSpPr>
          <p:cNvPr id="97" name="Shape 95"/>
          <p:cNvSpPr/>
          <p:nvPr/>
        </p:nvSpPr>
        <p:spPr>
          <a:xfrm>
            <a:off x="4901184" y="4663440"/>
            <a:ext cx="32004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dash"/>
            <a:tailEnd type="arrow"/>
          </a:ln>
        </p:spPr>
      </p:sp>
      <p:sp>
        <p:nvSpPr>
          <p:cNvPr id="98" name="Text 96"/>
          <p:cNvSpPr/>
          <p:nvPr/>
        </p:nvSpPr>
        <p:spPr>
          <a:xfrm>
            <a:off x="5266944" y="4599432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Failover / Alternate Path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6345936" y="4663440"/>
            <a:ext cx="32004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  <a:tailEnd type="arrow"/>
          </a:ln>
        </p:spPr>
      </p:sp>
      <p:sp>
        <p:nvSpPr>
          <p:cNvPr id="100" name="Text 98"/>
          <p:cNvSpPr/>
          <p:nvPr/>
        </p:nvSpPr>
        <p:spPr>
          <a:xfrm>
            <a:off x="6711696" y="4599432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Degraded / Best Effort Path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7790688" y="4663440"/>
            <a:ext cx="320040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arrow"/>
          </a:ln>
        </p:spPr>
      </p:sp>
      <p:sp>
        <p:nvSpPr>
          <p:cNvPr id="102" name="Text 100"/>
          <p:cNvSpPr/>
          <p:nvPr/>
        </p:nvSpPr>
        <p:spPr>
          <a:xfrm>
            <a:off x="8156448" y="4599432"/>
            <a:ext cx="10515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6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Component / Zone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DC262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Scenario: Zone A Outage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" y="548640"/>
            <a:ext cx="576072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FECAC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548640"/>
            <a:ext cx="5760720" cy="274320"/>
          </a:xfrm>
          <a:prstGeom prst="rect">
            <a:avLst/>
          </a:prstGeom>
          <a:solidFill>
            <a:srgbClr val="DC262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548640"/>
            <a:ext cx="5760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932688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32688"/>
            <a:ext cx="29260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4360" y="950976"/>
            <a:ext cx="5212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outage in Zone A (Compute, Network, or DC failure)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28600" y="1380744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380744"/>
            <a:ext cx="29260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" y="1399032"/>
            <a:ext cx="5212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Traffic Manager detects unhealthy endpoints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828800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1847088"/>
            <a:ext cx="5212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automatically fails over to Zone B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28600" y="2276856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276856"/>
            <a:ext cx="29260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94360" y="2295144"/>
            <a:ext cx="5212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 services failover automatically (active-active architecture)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2724912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2743200"/>
            <a:ext cx="5212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In-flight requests retry with backoff or use alternate path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3172968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172968"/>
            <a:ext cx="29260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191256"/>
            <a:ext cx="5212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continue from ODS / Read Store in Zone B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28600" y="3621024"/>
            <a:ext cx="29260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621024"/>
            <a:ext cx="292608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4360" y="3639312"/>
            <a:ext cx="52120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Non-critical features gracefully degrade if dependencies fail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080760" y="548640"/>
            <a:ext cx="594360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548640"/>
            <a:ext cx="5943600" cy="274320"/>
          </a:xfrm>
          <a:prstGeom prst="rect">
            <a:avLst/>
          </a:prstGeom>
          <a:solidFill>
            <a:srgbClr val="16A34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548640"/>
            <a:ext cx="5943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 Patterns in Action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932688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932688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92240" y="950976"/>
            <a:ext cx="5486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prevent long waits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72200" y="1380744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1380744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1399032"/>
            <a:ext cx="5486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with exponential backoff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72200" y="1828800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1828800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1847088"/>
            <a:ext cx="5486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stops cascading failures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72200" y="2276856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2276856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92240" y="2295144"/>
            <a:ext cx="5486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logic / alternate paths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72200" y="2724912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2724912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92240" y="2743200"/>
            <a:ext cx="5486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continuity via ODS / Read Stores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72200" y="3172968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92240" y="3191256"/>
            <a:ext cx="5486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for non-critical components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72200" y="3621024"/>
            <a:ext cx="256032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3621024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492240" y="3639312"/>
            <a:ext cx="54864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middleware ensures platform continuity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37160" y="4315968"/>
            <a:ext cx="11868912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37160" y="4315968"/>
            <a:ext cx="11868912" cy="274320"/>
          </a:xfrm>
          <a:prstGeom prst="rect">
            <a:avLst/>
          </a:prstGeom>
          <a:solidFill>
            <a:srgbClr val="1E4D8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" y="4315968"/>
            <a:ext cx="11868912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(During Zone A Outage)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74320" y="4681728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681728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94360" y="4700016"/>
            <a:ext cx="5532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resolve to Global Traffic Manager.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5157216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74320" y="5157216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94360" y="5175504"/>
            <a:ext cx="5532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 detect Zone A unhealthy.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274320" y="5632704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74320" y="5632704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94360" y="5650992"/>
            <a:ext cx="5532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automatically routed to Zone B.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74320" y="6108192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6108192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594360" y="6126480"/>
            <a:ext cx="5532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in Zone B continue processing.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6217920" y="4681728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217920" y="4681728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537960" y="4700016"/>
            <a:ext cx="5532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auto-failover ensures no message loss.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217920" y="5157216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217920" y="5157216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6537960" y="5175504"/>
            <a:ext cx="5532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served from ODS / Read Store in Zone B.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217920" y="5632704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217920" y="5632704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537960" y="5650992"/>
            <a:ext cx="5532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Non-critical features degraded, core functions continue.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217920" y="6108192"/>
            <a:ext cx="256032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217920" y="6108192"/>
            <a:ext cx="256032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537960" y="6126480"/>
            <a:ext cx="55321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errors logged with correlation ID &amp; surfaced via dashboards.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D1F4E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Resilience Patterns &amp; Outcomes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" y="548640"/>
            <a:ext cx="5760720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548640"/>
            <a:ext cx="5760720" cy="274320"/>
          </a:xfrm>
          <a:prstGeom prst="rect">
            <a:avLst/>
          </a:prstGeom>
          <a:solidFill>
            <a:srgbClr val="1E4D8C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548640"/>
            <a:ext cx="57607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Resilience Patterns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28600" y="932688"/>
            <a:ext cx="269748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932688"/>
            <a:ext cx="26974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932688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Isolation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225296"/>
            <a:ext cx="2514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contained by zone, service or domain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063240" y="932688"/>
            <a:ext cx="269748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932688"/>
            <a:ext cx="26974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932688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Management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54680" y="1225296"/>
            <a:ext cx="2514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timeouts for all outbound calls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8600" y="2011680"/>
            <a:ext cx="269748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011680"/>
            <a:ext cx="26974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011680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Strategies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2304288"/>
            <a:ext cx="2514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with jitter for transient errors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063240" y="2011680"/>
            <a:ext cx="269748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063240" y="2011680"/>
            <a:ext cx="26974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2011680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154680" y="2304288"/>
            <a:ext cx="2514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cascading failures &amp; allows graceful recovery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8600" y="3090672"/>
            <a:ext cx="269748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090672"/>
            <a:ext cx="26974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3090672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Logic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0040" y="3383280"/>
            <a:ext cx="2514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paths, cached responses or degraded workflows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063240" y="3090672"/>
            <a:ext cx="2697480" cy="96012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063240" y="3090672"/>
            <a:ext cx="2697480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63240" y="3090672"/>
            <a:ext cx="2697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Transparency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154680" y="3383280"/>
            <a:ext cx="25146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IDs, structured logs, dashboards &amp; alerts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80760" y="548640"/>
            <a:ext cx="59436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BBF7D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0760" y="548640"/>
            <a:ext cx="5943600" cy="274320"/>
          </a:xfrm>
          <a:prstGeom prst="rect">
            <a:avLst/>
          </a:prstGeom>
          <a:solidFill>
            <a:srgbClr val="16A34A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548640"/>
            <a:ext cx="5943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72200" y="932688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932688"/>
            <a:ext cx="182880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932688"/>
            <a:ext cx="18288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17920" y="1161288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99.99%+ platform uptime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8092440" y="932688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92440" y="932688"/>
            <a:ext cx="182880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92440" y="932688"/>
            <a:ext cx="18288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8138160" y="1161288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patterns prevent cascading failures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0012680" y="932688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0012680" y="932688"/>
            <a:ext cx="182880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012680" y="932688"/>
            <a:ext cx="18288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to Outages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10058400" y="1161288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failover, minimal impact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172200" y="1682496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1682496"/>
            <a:ext cx="182880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72200" y="1682496"/>
            <a:ext cx="18288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Visibility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6217920" y="1911096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traceability, alerts &amp; auditability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8092440" y="1682496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092440" y="1682496"/>
            <a:ext cx="18288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92440" y="1682496"/>
            <a:ext cx="18288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Continuity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8138160" y="1911096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continue via ODS / Read Stores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10012680" y="1682496"/>
            <a:ext cx="1828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1FA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0012680" y="1682496"/>
            <a:ext cx="1828800" cy="2011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012680" y="1682496"/>
            <a:ext cx="18288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10058400" y="1911096"/>
            <a:ext cx="17373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recovery, graceful degradation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6080760" y="2578608"/>
            <a:ext cx="5943600" cy="1947672"/>
          </a:xfrm>
          <a:prstGeom prst="rect">
            <a:avLst/>
          </a:prstGeom>
          <a:solidFill>
            <a:srgbClr val="FFFFFF"/>
          </a:solidFill>
          <a:ln w="635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080760" y="2578608"/>
            <a:ext cx="5943600" cy="274320"/>
          </a:xfrm>
          <a:prstGeom prst="rect">
            <a:avLst/>
          </a:prstGeom>
          <a:solidFill>
            <a:srgbClr val="D97706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80760" y="2578608"/>
            <a:ext cx="5943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Support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172200" y="2944368"/>
            <a:ext cx="2788920" cy="658368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6263640" y="2990088"/>
            <a:ext cx="2606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&amp; Alerts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263640" y="3264408"/>
            <a:ext cx="26060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Monitor, Datadog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9052560" y="2944368"/>
            <a:ext cx="2788920" cy="658368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9144000" y="2990088"/>
            <a:ext cx="2606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&amp; Health Checks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144000" y="3264408"/>
            <a:ext cx="26060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validation of critical paths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172200" y="3694176"/>
            <a:ext cx="2788920" cy="658368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6263640" y="3739896"/>
            <a:ext cx="2606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Auto-remediation &amp; Self-Healing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6263640" y="4014216"/>
            <a:ext cx="26060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unhealthy components, scale &amp; recover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9052560" y="3694176"/>
            <a:ext cx="2788920" cy="658368"/>
          </a:xfrm>
          <a:prstGeom prst="rect">
            <a:avLst/>
          </a:prstGeom>
          <a:solidFill>
            <a:srgbClr val="FFFBEB"/>
          </a:solidFill>
          <a:ln w="6350">
            <a:solidFill>
              <a:srgbClr val="FDE6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9144000" y="3739896"/>
            <a:ext cx="260604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&amp; Escalation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9144000" y="4014216"/>
            <a:ext cx="26060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procedures for failures &amp; outages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137160" y="4645152"/>
            <a:ext cx="11887200" cy="2057400"/>
          </a:xfrm>
          <a:prstGeom prst="rect">
            <a:avLst/>
          </a:prstGeom>
          <a:solidFill>
            <a:srgbClr val="0D1F4E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137160" y="4645152"/>
            <a:ext cx="11887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914400" y="49834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resilient, highly available platform that maintains service continuity, handles failures gracefully, and ensures exceptional customer trust.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1371600" y="5806440"/>
            <a:ext cx="2103120" cy="411480"/>
          </a:xfrm>
          <a:prstGeom prst="rect">
            <a:avLst/>
          </a:prstGeom>
          <a:solidFill>
            <a:srgbClr val="1E3560"/>
          </a:solidFill>
          <a:ln w="6350">
            <a:solidFill>
              <a:srgbClr val="3B599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0" y="5806440"/>
            <a:ext cx="2103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99.99%+ Uptime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840480" y="5806440"/>
            <a:ext cx="2103120" cy="411480"/>
          </a:xfrm>
          <a:prstGeom prst="rect">
            <a:avLst/>
          </a:prstGeom>
          <a:solidFill>
            <a:srgbClr val="1E3560"/>
          </a:solidFill>
          <a:ln w="6350">
            <a:solidFill>
              <a:srgbClr val="3B599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840480" y="5806440"/>
            <a:ext cx="2103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Message Loss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309360" y="5806440"/>
            <a:ext cx="2103120" cy="411480"/>
          </a:xfrm>
          <a:prstGeom prst="rect">
            <a:avLst/>
          </a:prstGeom>
          <a:solidFill>
            <a:srgbClr val="1E3560"/>
          </a:solidFill>
          <a:ln w="6350">
            <a:solidFill>
              <a:srgbClr val="3B5998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309360" y="5806440"/>
            <a:ext cx="2103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Auto-Failover &lt; 30s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8778240" y="5806440"/>
            <a:ext cx="2103120" cy="411480"/>
          </a:xfrm>
          <a:prstGeom prst="rect">
            <a:avLst/>
          </a:prstGeom>
          <a:solidFill>
            <a:srgbClr val="1E3560"/>
          </a:solidFill>
          <a:ln w="6350">
            <a:solidFill>
              <a:srgbClr val="3B599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778240" y="5806440"/>
            <a:ext cx="210312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Observability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2026-06-05T12:14:53Z</dcterms:created>
  <dcterms:modified xsi:type="dcterms:W3CDTF">2026-06-05T12:14:53Z</dcterms:modified>
</cp:coreProperties>
</file>